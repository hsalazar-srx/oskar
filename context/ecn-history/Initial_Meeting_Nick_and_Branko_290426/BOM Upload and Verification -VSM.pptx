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906000" cy="6858000" type="A4"/>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3C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varScale="1">
        <p:scale>
          <a:sx n="74" d="100"/>
          <a:sy n="74" d="100"/>
        </p:scale>
        <p:origin x="1272" y="56"/>
      </p:cViewPr>
      <p:guideLst>
        <p:guide orient="horz" pos="2160"/>
        <p:guide pos="312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4D866D72-0A87-4432-8348-4DF1A82D5B40}" type="datetimeFigureOut">
              <a:rPr lang="en-AU" smtClean="0"/>
              <a:pPr/>
              <a:t>29/04/2026</a:t>
            </a:fld>
            <a:endParaRPr lang="en-AU" dirty="0"/>
          </a:p>
        </p:txBody>
      </p:sp>
      <p:sp>
        <p:nvSpPr>
          <p:cNvPr id="4" name="Slide Image Placeholder 3"/>
          <p:cNvSpPr>
            <a:spLocks noGrp="1" noRot="1" noChangeAspect="1"/>
          </p:cNvSpPr>
          <p:nvPr>
            <p:ph type="sldImg" idx="2"/>
          </p:nvPr>
        </p:nvSpPr>
        <p:spPr>
          <a:xfrm>
            <a:off x="711200" y="744538"/>
            <a:ext cx="5375275" cy="3722687"/>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330ECCC2-8C93-4448-A88A-96F58F177F37}" type="slidenum">
              <a:rPr lang="en-AU" smtClean="0"/>
              <a:pPr/>
              <a:t>‹#›</a:t>
            </a:fld>
            <a:endParaRPr lang="en-AU" dirty="0"/>
          </a:p>
        </p:txBody>
      </p:sp>
    </p:spTree>
    <p:extLst>
      <p:ext uri="{BB962C8B-B14F-4D97-AF65-F5344CB8AC3E}">
        <p14:creationId xmlns:p14="http://schemas.microsoft.com/office/powerpoint/2010/main" val="3229727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descr="globe pattern corner.jpg"/>
          <p:cNvPicPr>
            <a:picLocks noChangeAspect="1"/>
          </p:cNvPicPr>
          <p:nvPr userDrawn="1"/>
        </p:nvPicPr>
        <p:blipFill>
          <a:blip r:embed="rId2" cstate="print"/>
          <a:stretch>
            <a:fillRect/>
          </a:stretch>
        </p:blipFill>
        <p:spPr>
          <a:xfrm>
            <a:off x="6450315" y="4291584"/>
            <a:ext cx="3462528" cy="2566416"/>
          </a:xfrm>
          <a:prstGeom prst="rect">
            <a:avLst/>
          </a:prstGeom>
        </p:spPr>
      </p:pic>
      <p:sp>
        <p:nvSpPr>
          <p:cNvPr id="2" name="Title 1"/>
          <p:cNvSpPr>
            <a:spLocks noGrp="1"/>
          </p:cNvSpPr>
          <p:nvPr>
            <p:ph type="ctrTitle"/>
          </p:nvPr>
        </p:nvSpPr>
        <p:spPr>
          <a:xfrm>
            <a:off x="742950" y="4027512"/>
            <a:ext cx="8420100" cy="720080"/>
          </a:xfrm>
        </p:spPr>
        <p:txBody>
          <a:bodyPr>
            <a:normAutofit/>
          </a:bodyPr>
          <a:lstStyle>
            <a:lvl1pPr>
              <a:defRPr sz="2800">
                <a:solidFill>
                  <a:srgbClr val="3C3C3B"/>
                </a:solidFill>
                <a:latin typeface="Arial" pitchFamily="34" charset="0"/>
                <a:cs typeface="Arial" pitchFamily="34" charset="0"/>
              </a:defRPr>
            </a:lvl1pPr>
          </a:lstStyle>
          <a:p>
            <a:r>
              <a:rPr lang="en-US" dirty="0"/>
              <a:t>Click to edit Master title style</a:t>
            </a:r>
            <a:endParaRPr lang="en-AU" dirty="0"/>
          </a:p>
        </p:txBody>
      </p:sp>
      <p:sp>
        <p:nvSpPr>
          <p:cNvPr id="3" name="Subtitle 2"/>
          <p:cNvSpPr>
            <a:spLocks noGrp="1"/>
          </p:cNvSpPr>
          <p:nvPr>
            <p:ph type="subTitle" idx="1"/>
          </p:nvPr>
        </p:nvSpPr>
        <p:spPr>
          <a:xfrm>
            <a:off x="1485900" y="4963616"/>
            <a:ext cx="6934200" cy="625624"/>
          </a:xfrm>
        </p:spPr>
        <p:txBody>
          <a:bodyPr>
            <a:normAutofit/>
          </a:bodyPr>
          <a:lstStyle>
            <a:lvl1pPr marL="0" indent="0" algn="ctr">
              <a:buNone/>
              <a:defRPr sz="1800">
                <a:solidFill>
                  <a:schemeClr val="tx1">
                    <a:tint val="75000"/>
                  </a:schemeClr>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AU" dirty="0"/>
          </a:p>
        </p:txBody>
      </p:sp>
      <p:pic>
        <p:nvPicPr>
          <p:cNvPr id="7" name="Picture 6" descr="SRX logo colour.jpg"/>
          <p:cNvPicPr>
            <a:picLocks/>
          </p:cNvPicPr>
          <p:nvPr userDrawn="1"/>
        </p:nvPicPr>
        <p:blipFill>
          <a:blip r:embed="rId3" cstate="print"/>
          <a:stretch>
            <a:fillRect/>
          </a:stretch>
        </p:blipFill>
        <p:spPr>
          <a:xfrm>
            <a:off x="4057166" y="603885"/>
            <a:ext cx="1783080" cy="280554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7" name="Picture 16" descr="globe pattern corner.jpg"/>
          <p:cNvPicPr>
            <a:picLocks noChangeAspect="1"/>
          </p:cNvPicPr>
          <p:nvPr userDrawn="1"/>
        </p:nvPicPr>
        <p:blipFill>
          <a:blip r:embed="rId2" cstate="print"/>
          <a:srcRect b="7746"/>
          <a:stretch>
            <a:fillRect/>
          </a:stretch>
        </p:blipFill>
        <p:spPr>
          <a:xfrm rot="10800000">
            <a:off x="1867" y="0"/>
            <a:ext cx="1733204" cy="1183816"/>
          </a:xfrm>
          <a:prstGeom prst="rect">
            <a:avLst/>
          </a:prstGeom>
        </p:spPr>
      </p:pic>
      <p:sp>
        <p:nvSpPr>
          <p:cNvPr id="2" name="Title 1"/>
          <p:cNvSpPr>
            <a:spLocks noGrp="1"/>
          </p:cNvSpPr>
          <p:nvPr>
            <p:ph type="title"/>
          </p:nvPr>
        </p:nvSpPr>
        <p:spPr>
          <a:xfrm>
            <a:off x="662523" y="260648"/>
            <a:ext cx="8502945" cy="562074"/>
          </a:xfrm>
        </p:spPr>
        <p:txBody>
          <a:bodyPr>
            <a:normAutofit/>
          </a:bodyPr>
          <a:lstStyle>
            <a:lvl1pPr>
              <a:defRPr sz="2800">
                <a:solidFill>
                  <a:srgbClr val="3C3C3B"/>
                </a:solidFill>
                <a:latin typeface="Arial" pitchFamily="34" charset="0"/>
                <a:cs typeface="Arial" pitchFamily="34" charset="0"/>
              </a:defRPr>
            </a:lvl1pPr>
          </a:lstStyle>
          <a:p>
            <a:r>
              <a:rPr lang="en-US" dirty="0"/>
              <a:t>Click to edit Master title style</a:t>
            </a:r>
            <a:endParaRPr lang="en-AU" dirty="0"/>
          </a:p>
        </p:txBody>
      </p:sp>
      <p:sp>
        <p:nvSpPr>
          <p:cNvPr id="3" name="Content Placeholder 2"/>
          <p:cNvSpPr>
            <a:spLocks noGrp="1"/>
          </p:cNvSpPr>
          <p:nvPr>
            <p:ph idx="1"/>
          </p:nvPr>
        </p:nvSpPr>
        <p:spPr>
          <a:xfrm>
            <a:off x="495300" y="1052737"/>
            <a:ext cx="8915400" cy="5073427"/>
          </a:xfrm>
        </p:spPr>
        <p:txBody>
          <a:bodyPr>
            <a:normAutofit/>
          </a:bodyPr>
          <a:lstStyle>
            <a:lvl1pPr marL="269875" indent="-269875">
              <a:buClr>
                <a:srgbClr val="C00000"/>
              </a:buClr>
              <a:buFontTx/>
              <a:buBlip>
                <a:blip r:embed="rId3"/>
              </a:buBlip>
              <a:defRPr sz="1600">
                <a:latin typeface="Arial" pitchFamily="34" charset="0"/>
                <a:cs typeface="Arial" pitchFamily="34" charset="0"/>
              </a:defRPr>
            </a:lvl1pPr>
            <a:lvl2pPr>
              <a:buClr>
                <a:srgbClr val="C00000"/>
              </a:buClr>
              <a:defRPr sz="1600">
                <a:latin typeface="Arial" pitchFamily="34" charset="0"/>
                <a:cs typeface="Arial" pitchFamily="34" charset="0"/>
              </a:defRPr>
            </a:lvl2pPr>
            <a:lvl3pPr>
              <a:buClr>
                <a:srgbClr val="C00000"/>
              </a:buClr>
              <a:defRPr sz="1600">
                <a:latin typeface="Arial" pitchFamily="34" charset="0"/>
                <a:cs typeface="Arial" pitchFamily="34" charset="0"/>
              </a:defRPr>
            </a:lvl3pPr>
            <a:lvl4pPr>
              <a:buClr>
                <a:srgbClr val="C00000"/>
              </a:buClr>
              <a:defRPr sz="1600">
                <a:latin typeface="Arial" pitchFamily="34" charset="0"/>
                <a:cs typeface="Arial" pitchFamily="34" charset="0"/>
              </a:defRPr>
            </a:lvl4pPr>
            <a:lvl5pPr>
              <a:buClr>
                <a:srgbClr val="C00000"/>
              </a:buClr>
              <a:defRPr sz="1600">
                <a:latin typeface="Arial" pitchFamily="34" charset="0"/>
                <a:cs typeface="Arial"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pic>
        <p:nvPicPr>
          <p:cNvPr id="7" name="Content Placeholder 5" descr="SRX logo colour.jpg"/>
          <p:cNvPicPr>
            <a:picLocks noChangeAspect="1"/>
          </p:cNvPicPr>
          <p:nvPr userDrawn="1"/>
        </p:nvPicPr>
        <p:blipFill>
          <a:blip r:embed="rId4" cstate="print"/>
          <a:stretch>
            <a:fillRect/>
          </a:stretch>
        </p:blipFill>
        <p:spPr>
          <a:xfrm>
            <a:off x="9243476" y="83766"/>
            <a:ext cx="477982" cy="752947"/>
          </a:xfrm>
          <a:prstGeom prst="rect">
            <a:avLst/>
          </a:prstGeom>
        </p:spPr>
      </p:pic>
      <p:grpSp>
        <p:nvGrpSpPr>
          <p:cNvPr id="8" name="Group 7"/>
          <p:cNvGrpSpPr/>
          <p:nvPr userDrawn="1"/>
        </p:nvGrpSpPr>
        <p:grpSpPr>
          <a:xfrm>
            <a:off x="272480" y="6381328"/>
            <a:ext cx="9360000" cy="72008"/>
            <a:chOff x="251520" y="6381328"/>
            <a:chExt cx="8640000" cy="72008"/>
          </a:xfrm>
        </p:grpSpPr>
        <p:sp>
          <p:nvSpPr>
            <p:cNvPr id="9" name="Rectangle 8"/>
            <p:cNvSpPr/>
            <p:nvPr/>
          </p:nvSpPr>
          <p:spPr>
            <a:xfrm>
              <a:off x="251520" y="6381328"/>
              <a:ext cx="1080000" cy="72008"/>
            </a:xfrm>
            <a:prstGeom prst="rect">
              <a:avLst/>
            </a:prstGeom>
            <a:solidFill>
              <a:srgbClr val="E1D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Rectangle 9"/>
            <p:cNvSpPr/>
            <p:nvPr/>
          </p:nvSpPr>
          <p:spPr>
            <a:xfrm>
              <a:off x="1331520" y="6381328"/>
              <a:ext cx="1080000" cy="72008"/>
            </a:xfrm>
            <a:prstGeom prst="rect">
              <a:avLst/>
            </a:prstGeom>
            <a:solidFill>
              <a:srgbClr val="F29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Rectangle 10"/>
            <p:cNvSpPr/>
            <p:nvPr/>
          </p:nvSpPr>
          <p:spPr>
            <a:xfrm>
              <a:off x="2411520" y="6381328"/>
              <a:ext cx="1080000" cy="72008"/>
            </a:xfrm>
            <a:prstGeom prst="rect">
              <a:avLst/>
            </a:prstGeom>
            <a:solidFill>
              <a:srgbClr val="97BF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p:cNvSpPr/>
            <p:nvPr/>
          </p:nvSpPr>
          <p:spPr>
            <a:xfrm>
              <a:off x="3491520" y="6381328"/>
              <a:ext cx="1080000" cy="72008"/>
            </a:xfrm>
            <a:prstGeom prst="rect">
              <a:avLst/>
            </a:prstGeom>
            <a:solidFill>
              <a:srgbClr val="0090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Rectangle 12"/>
            <p:cNvSpPr/>
            <p:nvPr/>
          </p:nvSpPr>
          <p:spPr>
            <a:xfrm>
              <a:off x="4571520" y="6381328"/>
              <a:ext cx="1080000" cy="72008"/>
            </a:xfrm>
            <a:prstGeom prst="rect">
              <a:avLst/>
            </a:prstGeom>
            <a:solidFill>
              <a:srgbClr val="009E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Rectangle 13"/>
            <p:cNvSpPr/>
            <p:nvPr/>
          </p:nvSpPr>
          <p:spPr>
            <a:xfrm>
              <a:off x="5651520" y="6381328"/>
              <a:ext cx="1080000" cy="72008"/>
            </a:xfrm>
            <a:prstGeom prst="rect">
              <a:avLst/>
            </a:prstGeom>
            <a:solidFill>
              <a:srgbClr val="004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Rectangle 14"/>
            <p:cNvSpPr/>
            <p:nvPr/>
          </p:nvSpPr>
          <p:spPr>
            <a:xfrm>
              <a:off x="6731520" y="6381328"/>
              <a:ext cx="1080000" cy="72008"/>
            </a:xfrm>
            <a:prstGeom prst="rect">
              <a:avLst/>
            </a:prstGeom>
            <a:solidFill>
              <a:srgbClr val="E200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Rectangle 15"/>
            <p:cNvSpPr/>
            <p:nvPr/>
          </p:nvSpPr>
          <p:spPr>
            <a:xfrm>
              <a:off x="7811520" y="6381328"/>
              <a:ext cx="1080000" cy="72008"/>
            </a:xfrm>
            <a:prstGeom prst="rect">
              <a:avLst/>
            </a:prstGeom>
            <a:solidFill>
              <a:srgbClr val="7636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grpSp>
      <p:sp>
        <p:nvSpPr>
          <p:cNvPr id="18" name="TextBox 17"/>
          <p:cNvSpPr txBox="1"/>
          <p:nvPr userDrawn="1"/>
        </p:nvSpPr>
        <p:spPr>
          <a:xfrm>
            <a:off x="4624036" y="6525345"/>
            <a:ext cx="640999" cy="246221"/>
          </a:xfrm>
          <a:prstGeom prst="rect">
            <a:avLst/>
          </a:prstGeom>
          <a:noFill/>
          <a:ln>
            <a:noFill/>
          </a:ln>
        </p:spPr>
        <p:txBody>
          <a:bodyPr wrap="square">
            <a:spAutoFit/>
          </a:bodyPr>
          <a:lstStyle/>
          <a:p>
            <a:pPr algn="ctr" fontAlgn="auto">
              <a:spcBef>
                <a:spcPts val="0"/>
              </a:spcBef>
              <a:spcAft>
                <a:spcPts val="0"/>
              </a:spcAft>
              <a:defRPr/>
            </a:pPr>
            <a:fld id="{FD053A2C-79AF-4DBA-80F5-43E409A891BE}" type="slidenum">
              <a:rPr lang="en-AU" sz="1000">
                <a:latin typeface="+mn-lt"/>
              </a:rPr>
              <a:pPr algn="ctr" fontAlgn="auto">
                <a:spcBef>
                  <a:spcPts val="0"/>
                </a:spcBef>
                <a:spcAft>
                  <a:spcPts val="0"/>
                </a:spcAft>
                <a:defRPr/>
              </a:pPr>
              <a:t>‹#›</a:t>
            </a:fld>
            <a:endParaRPr lang="en-AU" sz="1000" dirty="0">
              <a:latin typeface="+mn-l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506" y="4406901"/>
            <a:ext cx="84201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3269D7-8A51-49C2-A515-031C1F95F835}" type="datetime1">
              <a:rPr lang="en-AU" smtClean="0"/>
              <a:pPr/>
              <a:t>29/04/2026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406FE778-8073-4919-B36E-1F2D05F86CEB}" type="slidenum">
              <a:rPr lang="en-AU" smtClean="0"/>
              <a:pPr/>
              <a:t>‹#›</a:t>
            </a:fld>
            <a:endParaRPr lang="en-AU"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E83EDC3A-1277-4D30-99F8-4FA265C7A539}" type="datetime1">
              <a:rPr lang="en-AU" smtClean="0"/>
              <a:pPr/>
              <a:t>29/04/2026</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406FE778-8073-4919-B36E-1F2D05F86CEB}" type="slidenum">
              <a:rPr lang="en-AU" smtClean="0"/>
              <a:pPr/>
              <a:t>‹#›</a:t>
            </a:fld>
            <a:endParaRPr lang="en-A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F59D34C3-CC98-4DAA-BE6E-A7AF3E7C3272}" type="datetime1">
              <a:rPr lang="en-AU" smtClean="0"/>
              <a:pPr/>
              <a:t>29/04/2026</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406FE778-8073-4919-B36E-1F2D05F86CEB}" type="slidenum">
              <a:rPr lang="en-AU" smtClean="0"/>
              <a:pPr/>
              <a:t>‹#›</a:t>
            </a:fld>
            <a:endParaRPr lang="en-A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024990FF-5C83-4D23-B037-74EA9E0B2944}" type="datetime1">
              <a:rPr lang="en-AU" smtClean="0"/>
              <a:pPr/>
              <a:t>29/04/2026</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406FE778-8073-4919-B36E-1F2D05F86CEB}" type="slidenum">
              <a:rPr lang="en-AU" smtClean="0"/>
              <a:pPr/>
              <a:t>‹#›</a:t>
            </a:fld>
            <a:endParaRPr lang="en-A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A54AD5-7BA7-483A-B366-4A6F73CB02D0}" type="datetime1">
              <a:rPr lang="en-AU" smtClean="0"/>
              <a:pPr/>
              <a:t>29/04/2026</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406FE778-8073-4919-B36E-1F2D05F86CEB}" type="slidenum">
              <a:rPr lang="en-AU" smtClean="0"/>
              <a:pPr/>
              <a:t>‹#›</a:t>
            </a:fld>
            <a:endParaRPr lang="en-A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006"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DC6382-280B-43ED-A205-14E58932DFC2}" type="datetime1">
              <a:rPr lang="en-AU" smtClean="0"/>
              <a:pPr/>
              <a:t>29/04/2026</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406FE778-8073-4919-B36E-1F2D05F86CEB}" type="slidenum">
              <a:rPr lang="en-AU" smtClean="0"/>
              <a:pPr/>
              <a:t>‹#›</a:t>
            </a:fld>
            <a:endParaRPr lang="en-AU"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5" y="4800600"/>
            <a:ext cx="59436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C3412F3-1EF8-4219-9705-60566F955299}" type="datetime1">
              <a:rPr lang="en-AU" smtClean="0"/>
              <a:pPr/>
              <a:t>29/04/2026</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406FE778-8073-4919-B36E-1F2D05F86CEB}" type="slidenum">
              <a:rPr lang="en-AU" smtClean="0"/>
              <a:pPr/>
              <a:t>‹#›</a:t>
            </a:fld>
            <a:endParaRPr lang="en-AU"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5693279F-3C80-49F1-BBD7-ACE4B2D969BE}" type="datetime1">
              <a:rPr lang="en-AU" smtClean="0"/>
              <a:pPr/>
              <a:t>29/04/2026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406FE778-8073-4919-B36E-1F2D05F86CEB}" type="slidenum">
              <a:rPr lang="en-AU" smtClean="0"/>
              <a:pPr/>
              <a:t>‹#›</a:t>
            </a:fld>
            <a:endParaRPr lang="en-A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81850" y="274639"/>
            <a:ext cx="222885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95300" y="274639"/>
            <a:ext cx="652145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62F3F4DB-687F-4542-98F6-F37E6EF55BD8}" type="datetime1">
              <a:rPr lang="en-AU" smtClean="0"/>
              <a:pPr/>
              <a:t>29/04/2026</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406FE778-8073-4919-B36E-1F2D05F86CEB}" type="slidenum">
              <a:rPr lang="en-AU" smtClean="0"/>
              <a:pPr/>
              <a:t>‹#›</a:t>
            </a:fld>
            <a:endParaRPr lang="en-AU"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0622DC-E96F-447F-91C8-701BAEE0062D}" type="datetime1">
              <a:rPr lang="en-AU" smtClean="0"/>
              <a:pPr/>
              <a:t>29/04/2026</a:t>
            </a:fld>
            <a:endParaRPr lang="en-AU" dirty="0"/>
          </a:p>
        </p:txBody>
      </p:sp>
      <p:sp>
        <p:nvSpPr>
          <p:cNvPr id="5" name="Footer Placehold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6FE778-8073-4919-B36E-1F2D05F86CEB}" type="slidenum">
              <a:rPr lang="en-AU" smtClean="0"/>
              <a:pPr/>
              <a:t>‹#›</a:t>
            </a:fld>
            <a:endParaRPr lang="en-AU"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apps1.srxglobal.com/srx_eng_mel/?incsub_wiki=stargile-commactivity-issues-improvement-suggestion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apps1.srxglobal.com/srx_eng_mel/?incsub_wiki=stargile-commactivity-issues-improvement-suggestion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apps1.srxglobal.com/srx_eng_mel/?incsub_wiki=stargile-commactivity-issues-improvement-suggestion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BOM Upload and Verification</a:t>
            </a:r>
            <a:endParaRPr lang="en-AU" dirty="0">
              <a:solidFill>
                <a:srgbClr val="3C3C3B"/>
              </a:solidFill>
            </a:endParaRPr>
          </a:p>
        </p:txBody>
      </p:sp>
      <p:sp>
        <p:nvSpPr>
          <p:cNvPr id="3" name="Subtitle 2"/>
          <p:cNvSpPr>
            <a:spLocks noGrp="1"/>
          </p:cNvSpPr>
          <p:nvPr>
            <p:ph type="subTitle" idx="1"/>
          </p:nvPr>
        </p:nvSpPr>
        <p:spPr>
          <a:xfrm>
            <a:off x="1485900" y="4963616"/>
            <a:ext cx="6934200" cy="1345704"/>
          </a:xfrm>
        </p:spPr>
        <p:txBody>
          <a:bodyPr>
            <a:noAutofit/>
          </a:bodyPr>
          <a:lstStyle/>
          <a:p>
            <a:r>
              <a:rPr lang="en-AU" sz="1400" dirty="0"/>
              <a:t>VSM</a:t>
            </a:r>
          </a:p>
          <a:p>
            <a:r>
              <a:rPr lang="en-AU" sz="1400" dirty="0"/>
              <a:t>Value Stream Mapping</a:t>
            </a:r>
          </a:p>
          <a:p>
            <a:r>
              <a:rPr lang="en-AU" sz="1400" dirty="0"/>
              <a:t>Rev 1.1</a:t>
            </a:r>
          </a:p>
          <a:p>
            <a:r>
              <a:rPr lang="en-AU" sz="1400" dirty="0"/>
              <a:t>Updated 9th June 2021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Initial Discussions</a:t>
            </a:r>
          </a:p>
        </p:txBody>
      </p:sp>
      <p:sp>
        <p:nvSpPr>
          <p:cNvPr id="3" name="Content Placeholder 2"/>
          <p:cNvSpPr>
            <a:spLocks noGrp="1"/>
          </p:cNvSpPr>
          <p:nvPr>
            <p:ph idx="1"/>
          </p:nvPr>
        </p:nvSpPr>
        <p:spPr/>
        <p:txBody>
          <a:bodyPr>
            <a:normAutofit fontScale="55000" lnSpcReduction="20000"/>
          </a:bodyPr>
          <a:lstStyle/>
          <a:p>
            <a:r>
              <a:rPr lang="en-AU" sz="3200" dirty="0"/>
              <a:t> Go through the steps involved and find obvious bottlenecks and risks</a:t>
            </a:r>
          </a:p>
          <a:p>
            <a:pPr lvl="1"/>
            <a:r>
              <a:rPr lang="en-AU" sz="3200" b="1" dirty="0"/>
              <a:t>Step 1: Get the data – BOM and QCW (Including Labour and Materials Quote)</a:t>
            </a:r>
          </a:p>
          <a:p>
            <a:pPr lvl="2"/>
            <a:r>
              <a:rPr lang="en-AU" sz="3200" dirty="0"/>
              <a:t>BOM received by email from PM</a:t>
            </a:r>
          </a:p>
          <a:p>
            <a:pPr lvl="2"/>
            <a:r>
              <a:rPr lang="en-AU" sz="3200" dirty="0"/>
              <a:t>QCW received by email from PM</a:t>
            </a:r>
          </a:p>
          <a:p>
            <a:pPr lvl="2"/>
            <a:r>
              <a:rPr lang="en-AU" sz="3200" dirty="0"/>
              <a:t>Waiting time between request and receive</a:t>
            </a:r>
          </a:p>
          <a:p>
            <a:pPr lvl="3"/>
            <a:r>
              <a:rPr lang="en-AU" sz="3200" dirty="0"/>
              <a:t>PE should have access to the ‘source’ and get themselves these files</a:t>
            </a:r>
          </a:p>
          <a:p>
            <a:pPr lvl="4"/>
            <a:r>
              <a:rPr lang="en-AU" sz="3200" dirty="0"/>
              <a:t>QCW – is loaded in the RFQ DB</a:t>
            </a:r>
          </a:p>
          <a:p>
            <a:pPr lvl="4"/>
            <a:r>
              <a:rPr lang="en-AU" sz="3200" dirty="0"/>
              <a:t>PE to get access to RFQ DB to get the QCW</a:t>
            </a:r>
          </a:p>
          <a:p>
            <a:pPr lvl="4"/>
            <a:r>
              <a:rPr lang="en-AU" sz="3200" dirty="0"/>
              <a:t>Data pack (including the BOM) should be loaded in newly created NPI DB and BOM can be downloaded from there when needed</a:t>
            </a:r>
          </a:p>
          <a:p>
            <a:pPr lvl="4"/>
            <a:r>
              <a:rPr lang="en-AU" sz="3200" dirty="0"/>
              <a:t>Current alternative storage location for the data pack is S:\PRODENG folder</a:t>
            </a:r>
          </a:p>
          <a:p>
            <a:pPr lvl="4"/>
            <a:r>
              <a:rPr lang="en-AU" sz="3200" dirty="0"/>
              <a:t>On top of that other folders are used by other departments for storing data packs – </a:t>
            </a:r>
            <a:r>
              <a:rPr lang="en-AU" sz="3200" dirty="0">
                <a:solidFill>
                  <a:srgbClr val="FF0000"/>
                </a:solidFill>
              </a:rPr>
              <a:t>risk of mixing up info and retrieving wrong revisions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Initial Discussions</a:t>
            </a:r>
          </a:p>
        </p:txBody>
      </p:sp>
      <p:sp>
        <p:nvSpPr>
          <p:cNvPr id="4" name="Content Placeholder 2"/>
          <p:cNvSpPr>
            <a:spLocks noGrp="1"/>
          </p:cNvSpPr>
          <p:nvPr>
            <p:ph idx="1"/>
          </p:nvPr>
        </p:nvSpPr>
        <p:spPr>
          <a:xfrm>
            <a:off x="495300" y="1052737"/>
            <a:ext cx="8915400" cy="5073427"/>
          </a:xfrm>
        </p:spPr>
        <p:txBody>
          <a:bodyPr>
            <a:normAutofit fontScale="85000" lnSpcReduction="10000"/>
          </a:bodyPr>
          <a:lstStyle/>
          <a:p>
            <a:r>
              <a:rPr lang="en-AU" b="1" dirty="0">
                <a:solidFill>
                  <a:srgbClr val="FF0000"/>
                </a:solidFill>
              </a:rPr>
              <a:t>Separate Note regarding RFQ process:</a:t>
            </a:r>
          </a:p>
          <a:p>
            <a:pPr lvl="1"/>
            <a:r>
              <a:rPr lang="en-AU" dirty="0"/>
              <a:t>Often bare PCB is quoted with minimalistic panelisation features and is not following ‘SRX Panelisation Guideline’ shared with our suppliers</a:t>
            </a:r>
          </a:p>
          <a:p>
            <a:pPr lvl="1"/>
            <a:r>
              <a:rPr lang="en-AU" dirty="0"/>
              <a:t>Often PCB is quoted one per (not panelised)</a:t>
            </a:r>
          </a:p>
          <a:p>
            <a:pPr lvl="2"/>
            <a:r>
              <a:rPr lang="en-AU" dirty="0"/>
              <a:t>Need to find the optimum way to communicate to the quote team the desired panelisation size and number of boards per panel</a:t>
            </a:r>
          </a:p>
          <a:p>
            <a:pPr lvl="1"/>
            <a:r>
              <a:rPr lang="en-AU" dirty="0"/>
              <a:t>Finalise PCB quote should be shared with PE for approval/validation before is loaded in the QCW</a:t>
            </a:r>
          </a:p>
          <a:p>
            <a:pPr lvl="1"/>
            <a:r>
              <a:rPr lang="en-AU" dirty="0"/>
              <a:t>Otherwise we end up in the situation when we get a very cheap price during RFQ and then when we place the order price is changed due to the fact that basically the panelisation and features required for manufacturing are added only at this point. It changes the BOM price and making us lose money or go back to the customer at this late stage and ask for cost increase and amended PO. </a:t>
            </a:r>
          </a:p>
          <a:p>
            <a:pPr lvl="1"/>
            <a:r>
              <a:rPr lang="en-AU" dirty="0"/>
              <a:t>Too many alternative MPNs are quoted during the RFQ, especially the ones under Consolidation category, which are our decision to change customer BOMs due to our supply chain arrangements</a:t>
            </a:r>
          </a:p>
          <a:p>
            <a:pPr lvl="2"/>
            <a:r>
              <a:rPr lang="en-AU" dirty="0"/>
              <a:t>All these alternative MPNs need to be approved by the customer before we can upload them in the system</a:t>
            </a:r>
          </a:p>
          <a:p>
            <a:pPr lvl="2"/>
            <a:r>
              <a:rPr lang="en-AU" dirty="0"/>
              <a:t>They make BOM upload process much slower</a:t>
            </a:r>
          </a:p>
          <a:p>
            <a:pPr lvl="2"/>
            <a:r>
              <a:rPr lang="en-AU" dirty="0"/>
              <a:t>Need to review the “Consolidation” category justification and rules of engagement </a:t>
            </a:r>
          </a:p>
          <a:p>
            <a:pPr lvl="2"/>
            <a:r>
              <a:rPr lang="en-AU" dirty="0"/>
              <a:t>During the RFQ customer MPN should be quoted first and then the alternative should be added if alternative is a better option (better availability and price)</a:t>
            </a:r>
          </a:p>
          <a:p>
            <a:pPr lvl="2"/>
            <a:r>
              <a:rPr lang="en-AU" dirty="0"/>
              <a:t>In the Quote Letter should be presented the price following the customer BOM/MPN and an alternative price (lower) that could be achieved if customer wants to get involved in approving a number of alternative</a:t>
            </a:r>
          </a:p>
        </p:txBody>
      </p:sp>
    </p:spTree>
    <p:extLst>
      <p:ext uri="{BB962C8B-B14F-4D97-AF65-F5344CB8AC3E}">
        <p14:creationId xmlns:p14="http://schemas.microsoft.com/office/powerpoint/2010/main" val="2252412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Initial Discussions</a:t>
            </a:r>
          </a:p>
        </p:txBody>
      </p:sp>
      <p:sp>
        <p:nvSpPr>
          <p:cNvPr id="3" name="Content Placeholder 2"/>
          <p:cNvSpPr>
            <a:spLocks noGrp="1"/>
          </p:cNvSpPr>
          <p:nvPr>
            <p:ph idx="1"/>
          </p:nvPr>
        </p:nvSpPr>
        <p:spPr/>
        <p:txBody>
          <a:bodyPr>
            <a:normAutofit fontScale="92500" lnSpcReduction="10000"/>
          </a:bodyPr>
          <a:lstStyle/>
          <a:p>
            <a:r>
              <a:rPr lang="en-AU" b="1" dirty="0"/>
              <a:t>Step 2: Data check</a:t>
            </a:r>
          </a:p>
          <a:p>
            <a:pPr lvl="1"/>
            <a:r>
              <a:rPr lang="en-AU" dirty="0"/>
              <a:t>Customer BOM is checked against quoted BOM (from QCW)</a:t>
            </a:r>
          </a:p>
          <a:p>
            <a:pPr lvl="1"/>
            <a:r>
              <a:rPr lang="en-AU" dirty="0"/>
              <a:t>BOM Comparison</a:t>
            </a:r>
          </a:p>
          <a:p>
            <a:pPr lvl="2"/>
            <a:r>
              <a:rPr lang="en-AU" dirty="0"/>
              <a:t>Rev Check</a:t>
            </a:r>
          </a:p>
          <a:p>
            <a:pPr lvl="2"/>
            <a:r>
              <a:rPr lang="en-AU" dirty="0"/>
              <a:t>MPN, Ref Des, Qty check</a:t>
            </a:r>
          </a:p>
          <a:p>
            <a:pPr lvl="3"/>
            <a:r>
              <a:rPr lang="en-AU" dirty="0"/>
              <a:t>BOM Comparison done manually in Excel</a:t>
            </a:r>
          </a:p>
          <a:p>
            <a:pPr lvl="3"/>
            <a:r>
              <a:rPr lang="en-AU" dirty="0"/>
              <a:t>Not Standardised – each PE has his own way of doing it – adds the risk of not capturing all the time all the possible issues</a:t>
            </a:r>
          </a:p>
          <a:p>
            <a:pPr lvl="3"/>
            <a:r>
              <a:rPr lang="en-AU" dirty="0"/>
              <a:t>Time Consuming</a:t>
            </a:r>
          </a:p>
          <a:p>
            <a:pPr lvl="2"/>
            <a:r>
              <a:rPr lang="en-AU" dirty="0">
                <a:solidFill>
                  <a:srgbClr val="FF0000"/>
                </a:solidFill>
              </a:rPr>
              <a:t>Need to investigate if BOM Comparison tool can help comparing the customer BOM and the QCW BOM</a:t>
            </a:r>
          </a:p>
          <a:p>
            <a:pPr lvl="2"/>
            <a:r>
              <a:rPr lang="en-AU" dirty="0">
                <a:solidFill>
                  <a:srgbClr val="FF0000"/>
                </a:solidFill>
              </a:rPr>
              <a:t>Alternative solution – improve and standardise the EXCEL comparison (template, macros)</a:t>
            </a:r>
          </a:p>
          <a:p>
            <a:pPr lvl="2"/>
            <a:r>
              <a:rPr lang="en-AU" dirty="0">
                <a:solidFill>
                  <a:srgbClr val="FF0000"/>
                </a:solidFill>
              </a:rPr>
              <a:t>Organise external EXCEL training for PE to improve the skills and offer a better understanding of the enhanced Excel features/functions </a:t>
            </a:r>
          </a:p>
          <a:p>
            <a:pPr lvl="2"/>
            <a:r>
              <a:rPr lang="en-AU" dirty="0">
                <a:solidFill>
                  <a:srgbClr val="FF0000"/>
                </a:solidFill>
              </a:rPr>
              <a:t>Alternative solution – create web-based application for BOM Comparison with easy-to-follow functions for BOM upload and highlight the differences</a:t>
            </a:r>
          </a:p>
          <a:p>
            <a:pPr lvl="2"/>
            <a:r>
              <a:rPr lang="en-AU" b="1" dirty="0">
                <a:solidFill>
                  <a:srgbClr val="FF0000"/>
                </a:solidFill>
              </a:rPr>
              <a:t>Alternative solution – Use Valor MSS BOM Compare Tool – Train Engineers how to use it</a:t>
            </a:r>
          </a:p>
          <a:p>
            <a:pPr lvl="2"/>
            <a:r>
              <a:rPr lang="en-AU" b="1" dirty="0">
                <a:solidFill>
                  <a:srgbClr val="FF0000"/>
                </a:solidFill>
                <a:highlight>
                  <a:srgbClr val="FFFF00"/>
                </a:highlight>
              </a:rPr>
              <a:t>Trial BOM Connector tool from Siemens – it links with Valor MSS and possibly Movex</a:t>
            </a:r>
          </a:p>
          <a:p>
            <a:pPr lvl="3"/>
            <a:endParaRPr lang="en-AU" dirty="0"/>
          </a:p>
          <a:p>
            <a:pPr lvl="3"/>
            <a:endParaRPr lang="en-AU" dirty="0"/>
          </a:p>
        </p:txBody>
      </p:sp>
    </p:spTree>
    <p:extLst>
      <p:ext uri="{BB962C8B-B14F-4D97-AF65-F5344CB8AC3E}">
        <p14:creationId xmlns:p14="http://schemas.microsoft.com/office/powerpoint/2010/main" val="2286243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Initial Discussions</a:t>
            </a:r>
          </a:p>
        </p:txBody>
      </p:sp>
      <p:sp>
        <p:nvSpPr>
          <p:cNvPr id="3" name="Content Placeholder 2"/>
          <p:cNvSpPr>
            <a:spLocks noGrp="1"/>
          </p:cNvSpPr>
          <p:nvPr>
            <p:ph idx="1"/>
          </p:nvPr>
        </p:nvSpPr>
        <p:spPr>
          <a:xfrm>
            <a:off x="488504" y="1052736"/>
            <a:ext cx="8915400" cy="4680520"/>
          </a:xfrm>
        </p:spPr>
        <p:txBody>
          <a:bodyPr>
            <a:normAutofit fontScale="92500" lnSpcReduction="20000"/>
          </a:bodyPr>
          <a:lstStyle/>
          <a:p>
            <a:r>
              <a:rPr lang="en-AU" b="1" dirty="0"/>
              <a:t>Step 3: Decide which parts need new PN to be created in Movex</a:t>
            </a:r>
          </a:p>
          <a:p>
            <a:pPr lvl="1"/>
            <a:r>
              <a:rPr lang="en-AU" dirty="0"/>
              <a:t>New BOMs usually mean new part numbers to be created in the system, but system (Movex) need to be checked first to avoid duplication – for the same customer create a new PN for an MPN that already has a Movex PN</a:t>
            </a:r>
          </a:p>
          <a:p>
            <a:pPr lvl="1"/>
            <a:r>
              <a:rPr lang="en-AU" dirty="0"/>
              <a:t>Movex check is done manually in Excel</a:t>
            </a:r>
          </a:p>
          <a:p>
            <a:pPr lvl="2"/>
            <a:r>
              <a:rPr lang="en-AU" dirty="0"/>
              <a:t>Need to download the parts that are already created for that customer – report called </a:t>
            </a:r>
            <a:r>
              <a:rPr lang="en-AU" dirty="0">
                <a:highlight>
                  <a:srgbClr val="00FF00"/>
                </a:highlight>
              </a:rPr>
              <a:t>Customer Part Mapping</a:t>
            </a:r>
          </a:p>
          <a:p>
            <a:pPr lvl="2"/>
            <a:r>
              <a:rPr lang="en-AU" dirty="0"/>
              <a:t>Report needs to be reformatted before can be compared with the new BOM</a:t>
            </a:r>
          </a:p>
          <a:p>
            <a:pPr lvl="2"/>
            <a:r>
              <a:rPr lang="en-AU" dirty="0"/>
              <a:t>Check is done based on Customer Part Number (Alias) if available or MPN and Manufacturer </a:t>
            </a:r>
          </a:p>
          <a:p>
            <a:pPr lvl="3"/>
            <a:r>
              <a:rPr lang="en-AU" dirty="0"/>
              <a:t>Comparison done manually in Excel</a:t>
            </a:r>
          </a:p>
          <a:p>
            <a:pPr lvl="3"/>
            <a:r>
              <a:rPr lang="en-AU" dirty="0"/>
              <a:t>Not Standardised – each PE has his own way of doing it – adds the risk of not capturing all the time all the possible issues</a:t>
            </a:r>
          </a:p>
          <a:p>
            <a:pPr lvl="3"/>
            <a:r>
              <a:rPr lang="en-AU" dirty="0"/>
              <a:t>Time Consuming</a:t>
            </a:r>
          </a:p>
          <a:p>
            <a:pPr lvl="2"/>
            <a:r>
              <a:rPr lang="en-AU" dirty="0"/>
              <a:t>It will help if QCW has also a consolidated BOM, in case of multiple BOMs upload for a customer. It could be organised as a Pivot Table</a:t>
            </a:r>
          </a:p>
          <a:p>
            <a:pPr lvl="2"/>
            <a:r>
              <a:rPr lang="en-AU" dirty="0"/>
              <a:t>Parts that Match (PN already in the system) don’t require any new PN</a:t>
            </a:r>
          </a:p>
          <a:p>
            <a:pPr lvl="2"/>
            <a:r>
              <a:rPr lang="en-AU" dirty="0"/>
              <a:t>Partial Match – some of the MPNs are matching an existing Movex PN, but not all</a:t>
            </a:r>
          </a:p>
          <a:p>
            <a:pPr lvl="3"/>
            <a:r>
              <a:rPr lang="en-AU" dirty="0"/>
              <a:t>Requires further work and Customer approval or a new PN must be created</a:t>
            </a:r>
          </a:p>
          <a:p>
            <a:pPr lvl="3"/>
            <a:r>
              <a:rPr lang="en-AU" dirty="0"/>
              <a:t>Manual, time consuming work (download, email, explanations)</a:t>
            </a:r>
          </a:p>
          <a:p>
            <a:pPr lvl="2"/>
            <a:r>
              <a:rPr lang="en-AU" dirty="0"/>
              <a:t> No Match – a new PN must be created</a:t>
            </a:r>
          </a:p>
          <a:p>
            <a:pPr lvl="3"/>
            <a:endParaRPr lang="en-AU" dirty="0"/>
          </a:p>
        </p:txBody>
      </p:sp>
    </p:spTree>
    <p:extLst>
      <p:ext uri="{BB962C8B-B14F-4D97-AF65-F5344CB8AC3E}">
        <p14:creationId xmlns:p14="http://schemas.microsoft.com/office/powerpoint/2010/main" val="1095403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Initial Discussions</a:t>
            </a:r>
          </a:p>
        </p:txBody>
      </p:sp>
      <p:sp>
        <p:nvSpPr>
          <p:cNvPr id="3" name="Content Placeholder 2"/>
          <p:cNvSpPr>
            <a:spLocks noGrp="1"/>
          </p:cNvSpPr>
          <p:nvPr>
            <p:ph idx="1"/>
          </p:nvPr>
        </p:nvSpPr>
        <p:spPr>
          <a:xfrm>
            <a:off x="488504" y="1052736"/>
            <a:ext cx="8915400" cy="4680520"/>
          </a:xfrm>
        </p:spPr>
        <p:txBody>
          <a:bodyPr>
            <a:normAutofit/>
          </a:bodyPr>
          <a:lstStyle/>
          <a:p>
            <a:r>
              <a:rPr lang="en-AU" b="1" dirty="0"/>
              <a:t>Step 4: ECN - Create SRX PN &amp; Stock Code – need SRX PN, Desc, Status, ECN No, ECN Line</a:t>
            </a:r>
          </a:p>
          <a:p>
            <a:pPr lvl="1"/>
            <a:r>
              <a:rPr lang="en-AU" dirty="0"/>
              <a:t>Each PN has a certain format like LF-if is lead-free, XX-customer code like RM, XX – commodity code and XXXX- 4 digits incremental number</a:t>
            </a:r>
          </a:p>
          <a:p>
            <a:pPr lvl="1"/>
            <a:r>
              <a:rPr lang="en-AU" b="1" dirty="0"/>
              <a:t>LFRM</a:t>
            </a:r>
            <a:r>
              <a:rPr lang="en-AU" dirty="0"/>
              <a:t>120008</a:t>
            </a:r>
          </a:p>
          <a:p>
            <a:pPr lvl="1"/>
            <a:r>
              <a:rPr lang="en-AU" dirty="0"/>
              <a:t>PE must find, manually, the right commodity code based on MPN description or checking the Data Sheet</a:t>
            </a:r>
          </a:p>
          <a:p>
            <a:pPr lvl="1"/>
            <a:r>
              <a:rPr lang="en-AU" dirty="0"/>
              <a:t>PE must find, manually, the last PN allocated for that customer and that commodity and pick the next available number for the new PN that will be created</a:t>
            </a:r>
          </a:p>
          <a:p>
            <a:pPr lvl="1"/>
            <a:r>
              <a:rPr lang="en-AU" dirty="0"/>
              <a:t>Description of the SRX PN must be MAX 30 characters otherwise Movex won’t accept it</a:t>
            </a:r>
          </a:p>
          <a:p>
            <a:pPr lvl="1"/>
            <a:r>
              <a:rPr lang="en-AU" dirty="0"/>
              <a:t>Template &amp; QCW including the SRX PN column must be sent by email to Procurement to add Procurement parameters</a:t>
            </a:r>
          </a:p>
          <a:p>
            <a:pPr lvl="1"/>
            <a:r>
              <a:rPr lang="en-AU" dirty="0">
                <a:solidFill>
                  <a:srgbClr val="FF0000"/>
                </a:solidFill>
              </a:rPr>
              <a:t>UOM once created can't be changed, if is wrong a new PN must be created</a:t>
            </a:r>
          </a:p>
          <a:p>
            <a:pPr lvl="1"/>
            <a:r>
              <a:rPr lang="en-AU" dirty="0">
                <a:solidFill>
                  <a:srgbClr val="FF0000"/>
                </a:solidFill>
              </a:rPr>
              <a:t>All the templates need to be saved as Text(Tab Delimited) otherwise upload fails</a:t>
            </a:r>
          </a:p>
          <a:p>
            <a:pPr lvl="1"/>
            <a:r>
              <a:rPr lang="en-AU" dirty="0">
                <a:solidFill>
                  <a:srgbClr val="FF0000"/>
                </a:solidFill>
              </a:rPr>
              <a:t>Stargile – doesn’t have any error checking mechanism</a:t>
            </a:r>
          </a:p>
          <a:p>
            <a:pPr lvl="1"/>
            <a:r>
              <a:rPr lang="en-AU" dirty="0">
                <a:solidFill>
                  <a:srgbClr val="FF0000"/>
                </a:solidFill>
              </a:rPr>
              <a:t>All Stargile issues have been centralised in </a:t>
            </a:r>
            <a:r>
              <a:rPr lang="en-AU" dirty="0">
                <a:solidFill>
                  <a:srgbClr val="FF0000"/>
                </a:solidFill>
                <a:hlinkClick r:id="rId2"/>
              </a:rPr>
              <a:t>WIKI</a:t>
            </a:r>
            <a:endParaRPr lang="en-AU" dirty="0">
              <a:solidFill>
                <a:srgbClr val="FF0000"/>
              </a:solidFill>
            </a:endParaRPr>
          </a:p>
          <a:p>
            <a:pPr marL="457200" lvl="1" indent="0">
              <a:buNone/>
            </a:pPr>
            <a:endParaRPr lang="en-AU" dirty="0">
              <a:solidFill>
                <a:srgbClr val="FF0000"/>
              </a:solidFill>
            </a:endParaRPr>
          </a:p>
          <a:p>
            <a:pPr lvl="1"/>
            <a:endParaRPr lang="en-AU" dirty="0"/>
          </a:p>
        </p:txBody>
      </p:sp>
    </p:spTree>
    <p:extLst>
      <p:ext uri="{BB962C8B-B14F-4D97-AF65-F5344CB8AC3E}">
        <p14:creationId xmlns:p14="http://schemas.microsoft.com/office/powerpoint/2010/main" val="3022655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Initial Discussions</a:t>
            </a:r>
          </a:p>
        </p:txBody>
      </p:sp>
      <p:sp>
        <p:nvSpPr>
          <p:cNvPr id="3" name="Content Placeholder 2"/>
          <p:cNvSpPr>
            <a:spLocks noGrp="1"/>
          </p:cNvSpPr>
          <p:nvPr>
            <p:ph idx="1"/>
          </p:nvPr>
        </p:nvSpPr>
        <p:spPr/>
        <p:txBody>
          <a:bodyPr>
            <a:normAutofit fontScale="92500" lnSpcReduction="10000"/>
          </a:bodyPr>
          <a:lstStyle/>
          <a:p>
            <a:r>
              <a:rPr lang="en-AU" b="1" dirty="0"/>
              <a:t>STEP 5 – ECN – Routing Upload</a:t>
            </a:r>
          </a:p>
          <a:p>
            <a:pPr lvl="1"/>
            <a:r>
              <a:rPr lang="en-AU" dirty="0"/>
              <a:t>PE needs to get from PM the batch quantity in order to load the right routings</a:t>
            </a:r>
          </a:p>
          <a:p>
            <a:pPr lvl="1"/>
            <a:r>
              <a:rPr lang="en-AU" dirty="0"/>
              <a:t>Movex doesn’t support multiple routings for the same BOM</a:t>
            </a:r>
          </a:p>
          <a:p>
            <a:pPr lvl="1"/>
            <a:r>
              <a:rPr lang="en-AU" dirty="0"/>
              <a:t>If Batch QTY changes then routings need to be updated</a:t>
            </a:r>
          </a:p>
          <a:p>
            <a:r>
              <a:rPr lang="en-AU" b="1" dirty="0"/>
              <a:t>Step 6 – ECN – BOM Upload: PN, QTY, Designator, Operation Number</a:t>
            </a:r>
          </a:p>
          <a:p>
            <a:pPr lvl="1"/>
            <a:r>
              <a:rPr lang="en-AU" dirty="0"/>
              <a:t>Operation numbers used:</a:t>
            </a:r>
          </a:p>
          <a:p>
            <a:pPr lvl="2"/>
            <a:r>
              <a:rPr lang="en-AU" dirty="0"/>
              <a:t>50-SMT</a:t>
            </a:r>
          </a:p>
          <a:p>
            <a:pPr lvl="2"/>
            <a:r>
              <a:rPr lang="en-AU" dirty="0"/>
              <a:t>100-TH</a:t>
            </a:r>
          </a:p>
          <a:p>
            <a:pPr lvl="2"/>
            <a:r>
              <a:rPr lang="en-AU" dirty="0"/>
              <a:t>160-Mechanical</a:t>
            </a:r>
          </a:p>
          <a:p>
            <a:pPr lvl="2"/>
            <a:r>
              <a:rPr lang="en-AU" dirty="0"/>
              <a:t>190-Packing</a:t>
            </a:r>
          </a:p>
          <a:p>
            <a:pPr lvl="1"/>
            <a:r>
              <a:rPr lang="en-AU" dirty="0"/>
              <a:t>By this stage you need to know which parts are SMT, TH, Mechanical, Packing – at this stage manual search no automatic scripts or help</a:t>
            </a:r>
          </a:p>
          <a:p>
            <a:pPr lvl="1"/>
            <a:r>
              <a:rPr lang="en-AU" dirty="0"/>
              <a:t>Reference Designators will be available in Movex Reports only next day – </a:t>
            </a:r>
            <a:r>
              <a:rPr lang="en-AU" dirty="0">
                <a:solidFill>
                  <a:srgbClr val="FF0000"/>
                </a:solidFill>
              </a:rPr>
              <a:t>updating scripts introduce by IT at 10AM, 2PM, 6PM to shorten the wait</a:t>
            </a:r>
          </a:p>
          <a:p>
            <a:pPr lvl="1"/>
            <a:r>
              <a:rPr lang="en-AU" dirty="0">
                <a:solidFill>
                  <a:srgbClr val="FF0000"/>
                </a:solidFill>
              </a:rPr>
              <a:t>Add manually the Rev Data in Movex</a:t>
            </a:r>
          </a:p>
          <a:p>
            <a:pPr lvl="1"/>
            <a:r>
              <a:rPr lang="en-AU" dirty="0">
                <a:solidFill>
                  <a:srgbClr val="FF0000"/>
                </a:solidFill>
              </a:rPr>
              <a:t>QTY difficult to be determined at BOM upload stage for glues, conformal coating and other consumables</a:t>
            </a:r>
          </a:p>
          <a:p>
            <a:pPr lvl="1"/>
            <a:r>
              <a:rPr lang="en-AU" dirty="0">
                <a:solidFill>
                  <a:srgbClr val="FF0000"/>
                </a:solidFill>
              </a:rPr>
              <a:t>All the templates need to be saved as Text(Tab Delimited) otherwise upload fails</a:t>
            </a:r>
          </a:p>
          <a:p>
            <a:pPr lvl="1"/>
            <a:r>
              <a:rPr lang="en-AU" dirty="0">
                <a:solidFill>
                  <a:srgbClr val="FF0000"/>
                </a:solidFill>
              </a:rPr>
              <a:t>Stargile – doesn’t have any error checking mechanism</a:t>
            </a:r>
          </a:p>
          <a:p>
            <a:pPr lvl="1"/>
            <a:r>
              <a:rPr lang="en-AU" dirty="0">
                <a:solidFill>
                  <a:srgbClr val="FF0000"/>
                </a:solidFill>
              </a:rPr>
              <a:t>All Stargile issues have been centralised in </a:t>
            </a:r>
            <a:r>
              <a:rPr lang="en-AU" dirty="0">
                <a:solidFill>
                  <a:srgbClr val="FF0000"/>
                </a:solidFill>
                <a:hlinkClick r:id="rId2"/>
              </a:rPr>
              <a:t>WIKI</a:t>
            </a:r>
            <a:endParaRPr lang="en-AU" dirty="0">
              <a:solidFill>
                <a:srgbClr val="FF0000"/>
              </a:solidFill>
            </a:endParaRPr>
          </a:p>
          <a:p>
            <a:pPr marL="457200" lvl="1" indent="0">
              <a:buNone/>
            </a:pPr>
            <a:endParaRPr lang="en-AU" dirty="0"/>
          </a:p>
          <a:p>
            <a:pPr lvl="1"/>
            <a:endParaRPr lang="en-AU" dirty="0"/>
          </a:p>
          <a:p>
            <a:pPr lvl="1"/>
            <a:endParaRPr lang="en-AU" dirty="0"/>
          </a:p>
          <a:p>
            <a:pPr marL="457200" lvl="1" indent="0">
              <a:buNone/>
            </a:pPr>
            <a:endParaRPr lang="en-AU" dirty="0"/>
          </a:p>
        </p:txBody>
      </p:sp>
    </p:spTree>
    <p:extLst>
      <p:ext uri="{BB962C8B-B14F-4D97-AF65-F5344CB8AC3E}">
        <p14:creationId xmlns:p14="http://schemas.microsoft.com/office/powerpoint/2010/main" val="1307967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Initial Discussions</a:t>
            </a:r>
          </a:p>
        </p:txBody>
      </p:sp>
      <p:sp>
        <p:nvSpPr>
          <p:cNvPr id="3" name="Content Placeholder 2"/>
          <p:cNvSpPr>
            <a:spLocks noGrp="1"/>
          </p:cNvSpPr>
          <p:nvPr>
            <p:ph idx="1"/>
          </p:nvPr>
        </p:nvSpPr>
        <p:spPr/>
        <p:txBody>
          <a:bodyPr>
            <a:normAutofit fontScale="85000" lnSpcReduction="20000"/>
          </a:bodyPr>
          <a:lstStyle/>
          <a:p>
            <a:r>
              <a:rPr lang="en-AU" b="1" dirty="0"/>
              <a:t>Step 7 – ECN MPN Uploads (different template): PN, MPN, Manufacturer (30), Manufacturer Code</a:t>
            </a:r>
          </a:p>
          <a:p>
            <a:pPr lvl="1"/>
            <a:r>
              <a:rPr lang="en-AU" dirty="0"/>
              <a:t>Manufacturer and Manufacturer Code – manually searched and updated in the template</a:t>
            </a:r>
          </a:p>
          <a:p>
            <a:pPr lvl="1"/>
            <a:r>
              <a:rPr lang="en-AU" dirty="0"/>
              <a:t>Is Manufacturer Code used anywhere? Can we eliminate it?</a:t>
            </a:r>
          </a:p>
          <a:p>
            <a:pPr lvl="1"/>
            <a:r>
              <a:rPr lang="en-AU" dirty="0"/>
              <a:t>Currency is also a mandatory field which is not used – by default PE put AUD</a:t>
            </a:r>
          </a:p>
          <a:p>
            <a:pPr lvl="1"/>
            <a:r>
              <a:rPr lang="en-AU" dirty="0">
                <a:solidFill>
                  <a:srgbClr val="FF0000"/>
                </a:solidFill>
              </a:rPr>
              <a:t>All the templates need to be saved as Text(Tab Delimited) otherwise upload fails</a:t>
            </a:r>
          </a:p>
          <a:p>
            <a:pPr lvl="1"/>
            <a:r>
              <a:rPr lang="en-AU" dirty="0">
                <a:solidFill>
                  <a:srgbClr val="FF0000"/>
                </a:solidFill>
              </a:rPr>
              <a:t>Stargile – doesn’t have any error checking mechanism</a:t>
            </a:r>
          </a:p>
          <a:p>
            <a:pPr lvl="1"/>
            <a:r>
              <a:rPr lang="en-AU" dirty="0">
                <a:solidFill>
                  <a:srgbClr val="FF0000"/>
                </a:solidFill>
              </a:rPr>
              <a:t>All Stargile issues have been centralised in </a:t>
            </a:r>
            <a:r>
              <a:rPr lang="en-AU" dirty="0">
                <a:solidFill>
                  <a:srgbClr val="FF0000"/>
                </a:solidFill>
                <a:hlinkClick r:id="rId2"/>
              </a:rPr>
              <a:t>WIKI</a:t>
            </a:r>
            <a:endParaRPr lang="en-AU" dirty="0">
              <a:solidFill>
                <a:srgbClr val="FF0000"/>
              </a:solidFill>
            </a:endParaRPr>
          </a:p>
          <a:p>
            <a:pPr marL="0" indent="0">
              <a:buNone/>
            </a:pPr>
            <a:endParaRPr lang="en-AU" dirty="0"/>
          </a:p>
          <a:p>
            <a:r>
              <a:rPr lang="en-AU" b="1" dirty="0"/>
              <a:t>Step 8 – Check the Movex BOM against customer BOM</a:t>
            </a:r>
          </a:p>
          <a:p>
            <a:pPr lvl="1"/>
            <a:r>
              <a:rPr lang="en-AU" dirty="0"/>
              <a:t>Download BOM from Movex</a:t>
            </a:r>
          </a:p>
          <a:p>
            <a:pPr lvl="1"/>
            <a:r>
              <a:rPr lang="en-AU" dirty="0"/>
              <a:t>Compare against customer BOM</a:t>
            </a:r>
          </a:p>
          <a:p>
            <a:pPr lvl="2"/>
            <a:r>
              <a:rPr lang="en-AU" dirty="0"/>
              <a:t>Comparison done manually in Excel</a:t>
            </a:r>
          </a:p>
          <a:p>
            <a:pPr lvl="2"/>
            <a:r>
              <a:rPr lang="en-AU" dirty="0"/>
              <a:t>Not Standardised – each PE has his own way of doing it – adds the risk of not capturing all the time all the possible issues</a:t>
            </a:r>
          </a:p>
          <a:p>
            <a:pPr lvl="2"/>
            <a:r>
              <a:rPr lang="en-AU" dirty="0"/>
              <a:t>Time Consuming</a:t>
            </a:r>
          </a:p>
          <a:p>
            <a:pPr lvl="1"/>
            <a:r>
              <a:rPr lang="en-AU" dirty="0"/>
              <a:t>Can we create a new Crystal report that has PN with multiple MPNs on multiple lines?</a:t>
            </a:r>
          </a:p>
          <a:p>
            <a:pPr lvl="1"/>
            <a:r>
              <a:rPr lang="en-AU" dirty="0"/>
              <a:t>Is BOM Comparison Tool still working? Can it be used to simplify this step?</a:t>
            </a:r>
          </a:p>
          <a:p>
            <a:pPr lvl="1"/>
            <a:r>
              <a:rPr lang="en-AU" dirty="0"/>
              <a:t>Can we organise External EXCEL Training to improve PE Excel skills?</a:t>
            </a:r>
          </a:p>
          <a:p>
            <a:pPr lvl="1"/>
            <a:r>
              <a:rPr lang="en-AU" dirty="0"/>
              <a:t>BOM is also send to customer to verify</a:t>
            </a:r>
          </a:p>
          <a:p>
            <a:pPr lvl="2"/>
            <a:r>
              <a:rPr lang="en-AU" dirty="0"/>
              <a:t>Some customers are checking it, some don’t</a:t>
            </a:r>
          </a:p>
          <a:p>
            <a:pPr lvl="2"/>
            <a:r>
              <a:rPr lang="en-AU" dirty="0"/>
              <a:t>Some customers have advanced tools for BOM check – we need something similar</a:t>
            </a:r>
          </a:p>
          <a:p>
            <a:pPr lvl="1"/>
            <a:r>
              <a:rPr lang="en-AU" b="1" dirty="0">
                <a:solidFill>
                  <a:srgbClr val="FF0000"/>
                </a:solidFill>
                <a:highlight>
                  <a:srgbClr val="FFFF00"/>
                </a:highlight>
              </a:rPr>
              <a:t>Trial BOM Connector tool from Siemens – it links with Valor MSS and possibly Movex</a:t>
            </a:r>
          </a:p>
          <a:p>
            <a:pPr marL="457200" lvl="1" indent="0">
              <a:buNone/>
            </a:pPr>
            <a:endParaRPr lang="en-AU" dirty="0"/>
          </a:p>
        </p:txBody>
      </p:sp>
    </p:spTree>
    <p:extLst>
      <p:ext uri="{BB962C8B-B14F-4D97-AF65-F5344CB8AC3E}">
        <p14:creationId xmlns:p14="http://schemas.microsoft.com/office/powerpoint/2010/main" val="3866417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Initial Discussions</a:t>
            </a:r>
          </a:p>
        </p:txBody>
      </p:sp>
      <p:sp>
        <p:nvSpPr>
          <p:cNvPr id="3" name="Content Placeholder 2"/>
          <p:cNvSpPr>
            <a:spLocks noGrp="1"/>
          </p:cNvSpPr>
          <p:nvPr>
            <p:ph idx="1"/>
          </p:nvPr>
        </p:nvSpPr>
        <p:spPr/>
        <p:txBody>
          <a:bodyPr/>
          <a:lstStyle/>
          <a:p>
            <a:r>
              <a:rPr lang="en-AU" b="1" dirty="0"/>
              <a:t>Step 9 – Optional – Purge</a:t>
            </a:r>
          </a:p>
          <a:p>
            <a:pPr lvl="1"/>
            <a:r>
              <a:rPr lang="en-AU" dirty="0"/>
              <a:t>Purge is still done on paper – time consuming – </a:t>
            </a:r>
            <a:r>
              <a:rPr lang="en-AU" dirty="0">
                <a:highlight>
                  <a:srgbClr val="FFFF00"/>
                </a:highlight>
              </a:rPr>
              <a:t>database could simplify the process</a:t>
            </a:r>
          </a:p>
          <a:p>
            <a:pPr lvl="1"/>
            <a:r>
              <a:rPr lang="en-AU" dirty="0"/>
              <a:t>Purge Template – end date for MPN doesn’t work – escalate to Karen and John B</a:t>
            </a:r>
          </a:p>
          <a:p>
            <a:r>
              <a:rPr lang="en-AU" b="1" dirty="0"/>
              <a:t>Step 10 – Transmittal for PCB and Mechanical parts (build by drawing)</a:t>
            </a:r>
          </a:p>
          <a:p>
            <a:pPr lvl="1"/>
            <a:r>
              <a:rPr lang="en-AU" dirty="0"/>
              <a:t>All the Gerbers and drawings are uploaded in DMR</a:t>
            </a:r>
          </a:p>
          <a:p>
            <a:pPr lvl="1"/>
            <a:r>
              <a:rPr lang="en-AU" dirty="0"/>
              <a:t>Signed Transmittals are kept on S Drive</a:t>
            </a:r>
          </a:p>
          <a:p>
            <a:pPr lvl="1"/>
            <a:r>
              <a:rPr lang="en-AU" dirty="0"/>
              <a:t>Transmittals are requested and sent manually (PE asking Thu) or picked up by QA from the ECN</a:t>
            </a:r>
          </a:p>
          <a:p>
            <a:pPr lvl="1"/>
            <a:r>
              <a:rPr lang="en-AU" dirty="0"/>
              <a:t>Manual search for Supplier Number to be added on Transmittal</a:t>
            </a:r>
          </a:p>
          <a:p>
            <a:pPr lvl="1"/>
            <a:r>
              <a:rPr lang="en-AU" dirty="0"/>
              <a:t>Notes are added in Transmittal for PCBs regarding panelisation</a:t>
            </a:r>
          </a:p>
          <a:p>
            <a:pPr lvl="1"/>
            <a:r>
              <a:rPr lang="en-AU" dirty="0">
                <a:highlight>
                  <a:srgbClr val="FFFF00"/>
                </a:highlight>
              </a:rPr>
              <a:t>Transmittal should have a database to be able to check/find what was sent, when, by whom, etc.</a:t>
            </a:r>
          </a:p>
          <a:p>
            <a:pPr lvl="1"/>
            <a:r>
              <a:rPr lang="en-AU" dirty="0"/>
              <a:t> </a:t>
            </a:r>
          </a:p>
        </p:txBody>
      </p:sp>
    </p:spTree>
    <p:extLst>
      <p:ext uri="{BB962C8B-B14F-4D97-AF65-F5344CB8AC3E}">
        <p14:creationId xmlns:p14="http://schemas.microsoft.com/office/powerpoint/2010/main" val="529810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Initial Discussions</a:t>
            </a:r>
          </a:p>
        </p:txBody>
      </p:sp>
      <p:sp>
        <p:nvSpPr>
          <p:cNvPr id="3" name="Content Placeholder 2"/>
          <p:cNvSpPr>
            <a:spLocks noGrp="1"/>
          </p:cNvSpPr>
          <p:nvPr>
            <p:ph idx="1"/>
          </p:nvPr>
        </p:nvSpPr>
        <p:spPr/>
        <p:txBody>
          <a:bodyPr/>
          <a:lstStyle/>
          <a:p>
            <a:r>
              <a:rPr lang="en-AU" b="1" dirty="0"/>
              <a:t>Step 11 – Upload BOM in MTS</a:t>
            </a:r>
          </a:p>
          <a:p>
            <a:pPr lvl="1"/>
            <a:r>
              <a:rPr lang="en-AU" dirty="0"/>
              <a:t>BOM downloaded from Movex and uploaded in MTS?</a:t>
            </a:r>
          </a:p>
          <a:p>
            <a:pPr lvl="1"/>
            <a:r>
              <a:rPr lang="en-AU" dirty="0"/>
              <a:t>Can it be transferred automatically?</a:t>
            </a:r>
          </a:p>
          <a:p>
            <a:r>
              <a:rPr lang="en-AU" b="1" dirty="0"/>
              <a:t>Step 12 – Create routings, process flow in MTS</a:t>
            </a:r>
          </a:p>
          <a:p>
            <a:pPr marL="457200" lvl="1" indent="0">
              <a:buNone/>
            </a:pPr>
            <a:endParaRPr lang="en-AU" dirty="0"/>
          </a:p>
        </p:txBody>
      </p:sp>
    </p:spTree>
    <p:extLst>
      <p:ext uri="{BB962C8B-B14F-4D97-AF65-F5344CB8AC3E}">
        <p14:creationId xmlns:p14="http://schemas.microsoft.com/office/powerpoint/2010/main" val="4120319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2000" b="1" dirty="0"/>
              <a:t>Stargile (ComActivity) Issues &amp; Improvement Suggestions</a:t>
            </a:r>
            <a:br>
              <a:rPr lang="en-AU" sz="2000" b="1" dirty="0"/>
            </a:br>
            <a:endParaRPr lang="en-AU" sz="2000" dirty="0"/>
          </a:p>
        </p:txBody>
      </p:sp>
      <p:sp>
        <p:nvSpPr>
          <p:cNvPr id="3" name="Content Placeholder 2"/>
          <p:cNvSpPr>
            <a:spLocks noGrp="1"/>
          </p:cNvSpPr>
          <p:nvPr>
            <p:ph idx="1"/>
          </p:nvPr>
        </p:nvSpPr>
        <p:spPr/>
        <p:txBody>
          <a:bodyPr>
            <a:noAutofit/>
          </a:bodyPr>
          <a:lstStyle/>
          <a:p>
            <a:pPr marL="0" indent="0" fontAlgn="base">
              <a:buNone/>
            </a:pPr>
            <a:r>
              <a:rPr lang="en-AU" sz="1200" b="1" dirty="0"/>
              <a:t>GENERAL</a:t>
            </a:r>
          </a:p>
          <a:p>
            <a:pPr fontAlgn="base"/>
            <a:r>
              <a:rPr lang="en-AU" sz="1200" dirty="0"/>
              <a:t>Stargile only works properly in </a:t>
            </a:r>
            <a:r>
              <a:rPr lang="en-AU" sz="1200" u="sng" dirty="0"/>
              <a:t>Windows Internet Explorer 9 </a:t>
            </a:r>
            <a:r>
              <a:rPr lang="en-AU" sz="1200" dirty="0"/>
              <a:t>(very old version!).  Needs update to work in latest browsers.</a:t>
            </a:r>
          </a:p>
          <a:p>
            <a:pPr marL="0" indent="0" fontAlgn="base">
              <a:buNone/>
            </a:pPr>
            <a:r>
              <a:rPr lang="en-AU" sz="1200" b="1" dirty="0"/>
              <a:t>ECN RELATED</a:t>
            </a:r>
          </a:p>
          <a:p>
            <a:pPr fontAlgn="base">
              <a:buFont typeface="+mj-lt"/>
              <a:buAutoNum type="arabicPeriod"/>
            </a:pPr>
            <a:r>
              <a:rPr lang="en-AU" sz="1200" dirty="0"/>
              <a:t>Would be good if we can create some pre-set process configurations and distribution lists based on the type of ECN changes.  Currently relying on initiator to select the right roles and enter the right names for every ECN one by one.</a:t>
            </a:r>
          </a:p>
          <a:p>
            <a:pPr fontAlgn="base">
              <a:buFont typeface="+mj-lt"/>
              <a:buAutoNum type="arabicPeriod"/>
            </a:pPr>
            <a:r>
              <a:rPr lang="en-AU" sz="1200" dirty="0"/>
              <a:t>Process configuration and distribution list should be customizable.  Eg, there are two mandatory doc control approvals which is not necessary and just adds delays to ECN implementation.</a:t>
            </a:r>
          </a:p>
          <a:p>
            <a:pPr fontAlgn="base">
              <a:buFont typeface="+mj-lt"/>
              <a:buAutoNum type="arabicPeriod"/>
            </a:pPr>
            <a:r>
              <a:rPr lang="en-AU" sz="1200" dirty="0"/>
              <a:t>There is no validation between the names entered in Distribution List and the roles ticked in Process Configuration and vice versa.  If a process is ticked but no name entered against the role the ECN goes to a random person.  Vice versa if a name is entered but role not ticked then that person will never receive the ECN.  Very EASY TO MAKE MISTAKE!</a:t>
            </a:r>
          </a:p>
          <a:p>
            <a:pPr fontAlgn="base">
              <a:buFont typeface="+mj-lt"/>
              <a:buAutoNum type="arabicPeriod"/>
            </a:pPr>
            <a:r>
              <a:rPr lang="en-AU" sz="1200" dirty="0"/>
              <a:t>Need to be able to upload files directly into an ECN (such as approvals, e-mails, working files, </a:t>
            </a:r>
            <a:r>
              <a:rPr lang="en-AU" sz="1200" dirty="0" err="1"/>
              <a:t>etc</a:t>
            </a:r>
            <a:r>
              <a:rPr lang="en-AU" sz="1200" dirty="0"/>
              <a:t>).  Currently we have to upload in DMR and then type the path into the ECN so that people can find the related files.</a:t>
            </a:r>
          </a:p>
          <a:p>
            <a:pPr fontAlgn="base">
              <a:buFont typeface="+mj-lt"/>
              <a:buAutoNum type="arabicPeriod"/>
            </a:pPr>
            <a:r>
              <a:rPr lang="en-AU" sz="1200" dirty="0"/>
              <a:t>In View BoMs there is no validation when a duplicate sequence number is entered in a new BoM upload, or BoM update.  If you have duplicate sequence in a BoM upload, Stargile will only load one of the line items with a mixture of part number and circuit references from the two separate lines – THIS MEANS WE CAN MISS TO ORDER A REQUIRED COMPONENT.</a:t>
            </a:r>
          </a:p>
          <a:p>
            <a:pPr fontAlgn="base">
              <a:buFont typeface="+mj-lt"/>
              <a:buAutoNum type="arabicPeriod"/>
            </a:pPr>
            <a:r>
              <a:rPr lang="en-AU" sz="1200" dirty="0"/>
              <a:t>View BOM, MPN, ITEM, ROUTES buttons should be highlighted when there is information entered in them.</a:t>
            </a:r>
          </a:p>
          <a:p>
            <a:pPr fontAlgn="base">
              <a:buFont typeface="+mj-lt"/>
              <a:buAutoNum type="arabicPeriod"/>
            </a:pPr>
            <a:r>
              <a:rPr lang="en-AU" sz="1200" dirty="0"/>
              <a:t>Bom Revision and ECN Text in PDS001 not in Stargile has to be updated manually.</a:t>
            </a:r>
          </a:p>
          <a:p>
            <a:pPr fontAlgn="base">
              <a:buFont typeface="+mj-lt"/>
              <a:buAutoNum type="arabicPeriod"/>
            </a:pPr>
            <a:r>
              <a:rPr lang="en-AU" sz="1200" dirty="0"/>
              <a:t>Cannot delete customer Alias number via ECN, can only add additional Alias.  If want to delete have to do in Movex.</a:t>
            </a:r>
          </a:p>
          <a:p>
            <a:pPr fontAlgn="base">
              <a:buFont typeface="+mj-lt"/>
              <a:buAutoNum type="arabicPeriod"/>
            </a:pPr>
            <a:r>
              <a:rPr lang="en-AU" sz="1200" dirty="0"/>
              <a:t>Add extra columns to the </a:t>
            </a:r>
            <a:r>
              <a:rPr lang="en-AU" sz="1200" dirty="0" err="1"/>
              <a:t>ecn</a:t>
            </a:r>
            <a:r>
              <a:rPr lang="en-AU" sz="1200" dirty="0"/>
              <a:t> “View Items” summary screen –  “Name” “Purchase Price” and “Currency”.</a:t>
            </a:r>
          </a:p>
          <a:p>
            <a:pPr fontAlgn="base">
              <a:buFont typeface="+mj-lt"/>
              <a:buAutoNum type="arabicPeriod"/>
            </a:pPr>
            <a:r>
              <a:rPr lang="en-AU" sz="1200" dirty="0"/>
              <a:t>If two ECN’s created at same time affecting same </a:t>
            </a:r>
            <a:r>
              <a:rPr lang="en-AU" sz="1200" dirty="0" err="1"/>
              <a:t>p/n</a:t>
            </a:r>
            <a:r>
              <a:rPr lang="en-AU" sz="1200" dirty="0"/>
              <a:t> in same bom there is no warning message.  If both ECN’s are at a status prior to 50 only one of the updates will take affect.</a:t>
            </a:r>
          </a:p>
          <a:p>
            <a:pPr fontAlgn="base">
              <a:buFont typeface="+mj-lt"/>
              <a:buAutoNum type="arabicPeriod"/>
            </a:pPr>
            <a:r>
              <a:rPr lang="en-AU" sz="1200" dirty="0"/>
              <a:t>Uploading items works even on ECN that is at status 95 – Complete</a:t>
            </a:r>
            <a:br>
              <a:rPr lang="en-AU" sz="1200" dirty="0"/>
            </a:br>
            <a:r>
              <a:rPr lang="en-AU" sz="1200" dirty="0"/>
              <a:t>Also it lets you delete line items from the ECN even after Movex update is done.</a:t>
            </a:r>
          </a:p>
          <a:p>
            <a:pPr fontAlgn="base">
              <a:buFont typeface="+mj-lt"/>
              <a:buAutoNum type="arabicPeriod"/>
            </a:pPr>
            <a:r>
              <a:rPr lang="en-AU" sz="1200" dirty="0"/>
              <a:t>In View Items it does not retain the old information of the change.  The fields on the right should show what was before, and the left what is the new information.  All the fields just display whatever is the latest information in Movex after ECN is completed. so there is no history of the changes.</a:t>
            </a:r>
          </a:p>
          <a:p>
            <a:endParaRPr lang="en-AU" sz="1200" dirty="0"/>
          </a:p>
        </p:txBody>
      </p:sp>
    </p:spTree>
    <p:extLst>
      <p:ext uri="{BB962C8B-B14F-4D97-AF65-F5344CB8AC3E}">
        <p14:creationId xmlns:p14="http://schemas.microsoft.com/office/powerpoint/2010/main" val="2394994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2000" b="1" dirty="0"/>
              <a:t>Stargile (ComActivity) Issues &amp; Improvement Suggestions</a:t>
            </a:r>
            <a:endParaRPr lang="en-AU" sz="2000" dirty="0"/>
          </a:p>
        </p:txBody>
      </p:sp>
      <p:sp>
        <p:nvSpPr>
          <p:cNvPr id="3" name="Content Placeholder 2"/>
          <p:cNvSpPr>
            <a:spLocks noGrp="1"/>
          </p:cNvSpPr>
          <p:nvPr>
            <p:ph idx="1"/>
          </p:nvPr>
        </p:nvSpPr>
        <p:spPr/>
        <p:txBody>
          <a:bodyPr/>
          <a:lstStyle/>
          <a:p>
            <a:pPr marL="228600" indent="-228600" fontAlgn="base">
              <a:buFont typeface="+mj-lt"/>
              <a:buAutoNum type="arabicPeriod" startAt="13"/>
            </a:pPr>
            <a:r>
              <a:rPr lang="en-AU" sz="1200" dirty="0"/>
              <a:t>. ECR Implementation Schedule needs to be customizable, or at least we need CommActivity to update to add the following checks:</a:t>
            </a:r>
          </a:p>
          <a:p>
            <a:pPr lvl="1" fontAlgn="base">
              <a:buFont typeface="+mj-lt"/>
              <a:buAutoNum type="alphaUcPeriod"/>
            </a:pPr>
            <a:r>
              <a:rPr lang="en-AU" sz="1200" dirty="0"/>
              <a:t>AOI programs to be updated.</a:t>
            </a:r>
          </a:p>
          <a:p>
            <a:pPr lvl="1" fontAlgn="base">
              <a:buFont typeface="+mj-lt"/>
              <a:buAutoNum type="alphaUcPeriod"/>
            </a:pPr>
            <a:r>
              <a:rPr lang="en-AU" sz="1200" dirty="0"/>
              <a:t>New wave pallets required?</a:t>
            </a:r>
          </a:p>
          <a:p>
            <a:pPr lvl="1" fontAlgn="base">
              <a:buFont typeface="+mj-lt"/>
              <a:buAutoNum type="alphaUcPeriod"/>
            </a:pPr>
            <a:r>
              <a:rPr lang="en-AU" sz="1200" dirty="0"/>
              <a:t>MES update required?</a:t>
            </a:r>
          </a:p>
          <a:p>
            <a:pPr lvl="1" fontAlgn="base">
              <a:buFont typeface="+mj-lt"/>
              <a:buAutoNum type="alphaUcPeriod"/>
            </a:pPr>
            <a:r>
              <a:rPr lang="en-AU" sz="1200" dirty="0"/>
              <a:t>Valor MSS update required?</a:t>
            </a:r>
          </a:p>
          <a:p>
            <a:pPr fontAlgn="base">
              <a:buFont typeface="+mj-lt"/>
              <a:buAutoNum type="arabicPeriod" startAt="13"/>
            </a:pPr>
            <a:r>
              <a:rPr lang="en-AU" sz="1200" dirty="0"/>
              <a:t>Separate ECN’s required to create new items, upload routes, upload BoM &amp; MPN.  It would be good if all can be done in one ECN, as it adds a lot of delay and processing time to some basic BoM updates.</a:t>
            </a:r>
          </a:p>
          <a:p>
            <a:pPr fontAlgn="base">
              <a:buFont typeface="+mj-lt"/>
              <a:buAutoNum type="arabicPeriod" startAt="13"/>
            </a:pPr>
            <a:r>
              <a:rPr lang="en-AU" sz="1200" dirty="0"/>
              <a:t>When adding MPN’s the “currency” field is mandatory even though we don’t use it.  Please make it non-</a:t>
            </a:r>
            <a:r>
              <a:rPr lang="en-AU" sz="1200" dirty="0" err="1"/>
              <a:t>manadatory</a:t>
            </a:r>
            <a:r>
              <a:rPr lang="en-AU" sz="1200" dirty="0"/>
              <a:t> as it’s waste of time entering data there.</a:t>
            </a:r>
          </a:p>
          <a:p>
            <a:pPr fontAlgn="base">
              <a:buFont typeface="+mj-lt"/>
              <a:buAutoNum type="arabicPeriod" startAt="13"/>
            </a:pPr>
            <a:r>
              <a:rPr lang="en-AU" sz="1200" dirty="0"/>
              <a:t>When adding MPN’s we have to enter the Movex manufacturer code, as well as the manufacturer name.  Should be one or the other as it wastes time to do both.  The manufacturer code could be linked to Movex to display the name automatically.</a:t>
            </a:r>
          </a:p>
          <a:p>
            <a:pPr marL="0" indent="0" fontAlgn="base">
              <a:buNone/>
            </a:pPr>
            <a:r>
              <a:rPr lang="en-AU" sz="1200" b="1" dirty="0"/>
              <a:t>MAINTENANCE RELATED</a:t>
            </a:r>
          </a:p>
          <a:p>
            <a:pPr fontAlgn="base">
              <a:buFont typeface="+mj-lt"/>
              <a:buAutoNum type="arabicPeriod"/>
            </a:pPr>
            <a:r>
              <a:rPr lang="en-AU" sz="1200" dirty="0"/>
              <a:t>Can we have a customizable view’s that show all information we need in one page.  </a:t>
            </a:r>
            <a:r>
              <a:rPr lang="en-AU" sz="1200" dirty="0" err="1"/>
              <a:t>eg</a:t>
            </a:r>
            <a:r>
              <a:rPr lang="en-AU" sz="1200" dirty="0"/>
              <a:t>. would be good to have one view that displays Part Number, Description, Manufacturer, MPN, Stock On Hand.</a:t>
            </a:r>
          </a:p>
          <a:p>
            <a:pPr fontAlgn="base">
              <a:buFont typeface="+mj-lt"/>
              <a:buAutoNum type="arabicPeriod"/>
            </a:pPr>
            <a:r>
              <a:rPr lang="en-AU" sz="1200" dirty="0"/>
              <a:t>Would be good to have more fields for MPN updates such as:</a:t>
            </a:r>
          </a:p>
          <a:p>
            <a:pPr lvl="1" fontAlgn="base"/>
            <a:r>
              <a:rPr lang="en-AU" sz="1200" dirty="0"/>
              <a:t>Shelf life</a:t>
            </a:r>
          </a:p>
          <a:p>
            <a:pPr lvl="1" fontAlgn="base"/>
            <a:r>
              <a:rPr lang="en-AU" sz="1200" dirty="0"/>
              <a:t>Packaging (</a:t>
            </a:r>
            <a:r>
              <a:rPr lang="en-AU" sz="1200" dirty="0" err="1"/>
              <a:t>eg</a:t>
            </a:r>
            <a:r>
              <a:rPr lang="en-AU" sz="1200" dirty="0"/>
              <a:t>. Tape &amp; Reel, Tube, Tray, Bulk, etc.)</a:t>
            </a:r>
          </a:p>
          <a:p>
            <a:pPr lvl="1" fontAlgn="base"/>
            <a:r>
              <a:rPr lang="en-AU" sz="1200" dirty="0"/>
              <a:t>EOL, Obsolete Status</a:t>
            </a:r>
          </a:p>
          <a:p>
            <a:pPr lvl="1" fontAlgn="base"/>
            <a:r>
              <a:rPr lang="en-AU" sz="1200" dirty="0"/>
              <a:t>YEOL – Years to EOL</a:t>
            </a:r>
          </a:p>
          <a:p>
            <a:pPr lvl="1" fontAlgn="base"/>
            <a:r>
              <a:rPr lang="en-AU" sz="1200" dirty="0"/>
              <a:t>Do Not Buy / Not Preferred status</a:t>
            </a:r>
          </a:p>
          <a:p>
            <a:pPr lvl="1" fontAlgn="base"/>
            <a:r>
              <a:rPr lang="en-AU" sz="1200" dirty="0"/>
              <a:t>NRND – Not recommended for new designs</a:t>
            </a:r>
          </a:p>
          <a:p>
            <a:pPr lvl="1" fontAlgn="base"/>
            <a:r>
              <a:rPr lang="en-AU" sz="1200" dirty="0"/>
              <a:t>MSL (Moisture </a:t>
            </a:r>
            <a:r>
              <a:rPr lang="en-AU" sz="1200"/>
              <a:t>Sensitivity Level)</a:t>
            </a:r>
            <a:endParaRPr lang="en-AU" sz="1200" dirty="0"/>
          </a:p>
          <a:p>
            <a:endParaRPr lang="en-AU" dirty="0"/>
          </a:p>
        </p:txBody>
      </p:sp>
    </p:spTree>
    <p:extLst>
      <p:ext uri="{BB962C8B-B14F-4D97-AF65-F5344CB8AC3E}">
        <p14:creationId xmlns:p14="http://schemas.microsoft.com/office/powerpoint/2010/main" val="27598342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645</TotalTime>
  <Words>2403</Words>
  <Application>Microsoft Office PowerPoint</Application>
  <PresentationFormat>A4 Paper (210x297 mm)</PresentationFormat>
  <Paragraphs>167</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BOM Upload and Verification</vt:lpstr>
      <vt:lpstr>Initial Discussions</vt:lpstr>
      <vt:lpstr>Initial Discussions</vt:lpstr>
      <vt:lpstr>Initial Discussions</vt:lpstr>
      <vt:lpstr>Initial Discussions</vt:lpstr>
      <vt:lpstr>Initial Discussions</vt:lpstr>
      <vt:lpstr>Initial Discussions</vt:lpstr>
      <vt:lpstr>Initial Discussions</vt:lpstr>
      <vt:lpstr>Initial Discussions</vt:lpstr>
      <vt:lpstr>Initial Discussions</vt:lpstr>
      <vt:lpstr>Stargile (ComActivity) Issues &amp; Improvement Suggestions </vt:lpstr>
      <vt:lpstr>Stargile (ComActivity) Issues &amp; Improvement Suggestions</vt:lpstr>
    </vt:vector>
  </TitlesOfParts>
  <Company>SRXGlobal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SRX Overview</dc:title>
  <dc:creator>Rosanna Norris</dc:creator>
  <cp:lastModifiedBy>Hector Salazar</cp:lastModifiedBy>
  <cp:revision>60</cp:revision>
  <dcterms:created xsi:type="dcterms:W3CDTF">2014-03-30T23:57:41Z</dcterms:created>
  <dcterms:modified xsi:type="dcterms:W3CDTF">2026-04-29T09:10:45Z</dcterms:modified>
</cp:coreProperties>
</file>